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12192000"/>
  <p:embeddedFontLst>
    <p:embeddedFont>
      <p:font typeface="Manrope" panose="020B0604020202020204" charset="0"/>
      <p:regular r:id="rId16"/>
    </p:embeddedFont>
    <p:embeddedFont>
      <p:font typeface="Manrope Bold" panose="020B0604020202020204" charset="0"/>
      <p:regular r:id="rId17"/>
    </p:embeddedFont>
    <p:embeddedFont>
      <p:font typeface="Space Grotesk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159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76543" y="1928833"/>
            <a:ext cx="6248244" cy="142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200" b="1" kern="100" spc="-224" dirty="0">
                <a:solidFill>
                  <a:srgbClr val="D6D2D9"/>
                </a:solidFill>
                <a:latin typeface="Times New Roman" panose="02020603050405020304" pitchFamily="18" charset="0"/>
                <a:ea typeface="Space Grotesk Bold" pitchFamily="34" charset="-122"/>
                <a:cs typeface="Times New Roman" panose="02020603050405020304" pitchFamily="18" charset="0"/>
              </a:rPr>
              <a:t>GymFit</a:t>
            </a:r>
            <a:endParaRPr 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6543" y="3506768"/>
            <a:ext cx="6248244" cy="530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b="1" kern="100" spc="-44" dirty="0">
                <a:solidFill>
                  <a:srgbClr val="F5F5F5"/>
                </a:solidFill>
                <a:latin typeface="Times New Roman" panose="02020603050405020304" pitchFamily="18" charset="0"/>
                <a:ea typeface="Manrope Bold" pitchFamily="34" charset="-122"/>
                <a:cs typeface="Times New Roman" panose="02020603050405020304" pitchFamily="18" charset="0"/>
              </a:rPr>
              <a:t>Fitness and Workout Tracking Application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67413" y="355600"/>
            <a:ext cx="4267093" cy="6146800"/>
          </a:xfrm>
          <a:prstGeom prst="roundRect">
            <a:avLst>
              <a:gd name="adj" fmla="val 4821"/>
            </a:avLst>
          </a:prstGeom>
          <a:noFill/>
          <a:ln w="19050">
            <a:solidFill>
              <a:srgbClr val="45414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463" y="374650"/>
            <a:ext cx="4228994" cy="6108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D949C9-4404-A3EA-C806-74EE7AE1A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0204" y="6523194"/>
            <a:ext cx="1461490" cy="2899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A8BD28-9ADA-472C-F488-EDF2CA905BE8}"/>
              </a:ext>
            </a:extLst>
          </p:cNvPr>
          <p:cNvSpPr txBox="1"/>
          <p:nvPr/>
        </p:nvSpPr>
        <p:spPr>
          <a:xfrm>
            <a:off x="0" y="5889843"/>
            <a:ext cx="4609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Muskaan Mahajan (T046) &amp; Armaan Thakur (T033)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Dr.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Preetjot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Kaur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43898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kern="100" spc="-96" dirty="0">
                <a:solidFill>
                  <a:srgbClr val="F5F5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GymFit brings scattered fitness tasks into one app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09585" y="2665809"/>
            <a:ext cx="5333867" cy="2963763"/>
          </a:xfrm>
          <a:prstGeom prst="rect">
            <a:avLst/>
          </a:prstGeom>
          <a:solidFill>
            <a:srgbClr val="1C1C21"/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0727" y="2981087"/>
            <a:ext cx="502272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FF4B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20727" y="3341390"/>
            <a:ext cx="4711582" cy="197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Manual workout tracking makes consistency and history harder to maintain.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Progress, goals, achievements, rankings, maps, and social activity are often split across separate tools.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48244" y="2665809"/>
            <a:ext cx="5333867" cy="2963763"/>
          </a:xfrm>
          <a:prstGeom prst="rect">
            <a:avLst/>
          </a:prstGeom>
          <a:solidFill>
            <a:srgbClr val="8B2E16"/>
          </a:solidFill>
          <a:ln/>
        </p:spPr>
      </p:sp>
      <p:sp>
        <p:nvSpPr>
          <p:cNvPr id="7" name="Text 5"/>
          <p:cNvSpPr/>
          <p:nvPr/>
        </p:nvSpPr>
        <p:spPr>
          <a:xfrm>
            <a:off x="6553036" y="2974737"/>
            <a:ext cx="502907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53036" y="3345517"/>
            <a:ext cx="4724282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GymFit combines workout logging, fitness statistics, goals, achievements, leaderboard participation, map viewing, and social activity in one Android application.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9C920-CCBB-CB4A-B48E-818E433A5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922" y="6413614"/>
            <a:ext cx="2013772" cy="3995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67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kern="100" spc="156" dirty="0">
                <a:solidFill>
                  <a:srgbClr val="FF4B0B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APPLICATION LIFECYCLE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54333"/>
            <a:ext cx="10972526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100" spc="-72" dirty="0">
                <a:solidFill>
                  <a:srgbClr val="F5F5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app flow moves from startup state to feature navigation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902916"/>
            <a:ext cx="10972526" cy="2148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Android Studio develops, builds, and tests the Java/XML application on a physical phone.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SplashActivity checks the current authentication/session state.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Signed-out users go to LoginActivity or SignUpActivity; users needing setup follow onboarding.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MainActivity hosts the main destinations: Home, Workout, Social, Map, and Leaderboard.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Dedicated activities open for tasks such as active workouts, profile editing, chat, and workout summaries.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154431-2910-7C92-13C1-92A90ACB0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922" y="6413614"/>
            <a:ext cx="2013772" cy="3995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7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kern="100" spc="156" dirty="0">
                <a:solidFill>
                  <a:srgbClr val="FF4B0B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81333"/>
            <a:ext cx="10972526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100" spc="-72" dirty="0">
                <a:solidFill>
                  <a:srgbClr val="F5F5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Authentication connects the user to the main app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452065" y="1849488"/>
            <a:ext cx="7132161" cy="4625380"/>
          </a:xfrm>
          <a:prstGeom prst="rect">
            <a:avLst/>
          </a:prstGeom>
          <a:solidFill>
            <a:srgbClr val="1C1C2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3139352" y="2377852"/>
            <a:ext cx="5912992" cy="3406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LoginActivity handles existing-user sign-in.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SignUpActivity creates a new account and coordinates initial profile setup.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AuthRepository connects the screens to Firebase Authentication.</a:t>
            </a:r>
            <a:endParaRPr lang="en-US" sz="1800" dirty="0"/>
          </a:p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MainActivity becomes the navigation container after the startup decision.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D6D2D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Java files:</a:t>
            </a: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SplashActivity.java, LoginActivity.java, SignUpActivity.java, AuthRepository.java, MainActivity.java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741881-084C-2469-623C-02001843A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163" y="6550964"/>
            <a:ext cx="1321530" cy="2622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956"/>
            <a:ext cx="629904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kern="100" spc="156" dirty="0">
                <a:solidFill>
                  <a:srgbClr val="FF4B0B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HOME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01561"/>
            <a:ext cx="5841854" cy="13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100" spc="-72" dirty="0">
                <a:solidFill>
                  <a:srgbClr val="F5F5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home dashboard turns workout data into quick decisions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394267"/>
            <a:ext cx="584185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HomeFragment surfaces high-priority metrics to reinforce consistency before a user launches a new session.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3105745"/>
            <a:ext cx="2844729" cy="2071191"/>
          </a:xfrm>
          <a:prstGeom prst="roundRect">
            <a:avLst>
              <a:gd name="adj" fmla="val 8829"/>
            </a:avLst>
          </a:prstGeom>
          <a:solidFill>
            <a:srgbClr val="1C1C21"/>
          </a:solidFill>
          <a:ln w="6350">
            <a:solidFill>
              <a:srgbClr val="4541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331" y="3243540"/>
            <a:ext cx="268598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4B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METRIC AGGREGATION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331" y="3631128"/>
            <a:ext cx="252723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D6D2D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Day Streak &amp; Volume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Calculated active time, completed counts, and cumulative kilograms.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06710" y="3105745"/>
            <a:ext cx="2844729" cy="2071191"/>
          </a:xfrm>
          <a:prstGeom prst="roundRect">
            <a:avLst>
              <a:gd name="adj" fmla="val 8829"/>
            </a:avLst>
          </a:prstGeom>
          <a:solidFill>
            <a:srgbClr val="1C1C21"/>
          </a:solidFill>
          <a:ln w="6350">
            <a:solidFill>
              <a:srgbClr val="4541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5456" y="3243540"/>
            <a:ext cx="268598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4B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 TRACKING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65456" y="3631128"/>
            <a:ext cx="252723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D6D2D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Goals &amp; Weight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Current phase (e.g. Cut/Shred) paired with quick body-weight updates.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585" y="5819795"/>
            <a:ext cx="584185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D6D2D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Files:</a:t>
            </a:r>
            <a:r>
              <a:rPr lang="en-US" sz="16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HomeFragment.java · fragment_home.xml · StatsService.java · BodyWeightActivity.java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61023" y="304800"/>
            <a:ext cx="4673483" cy="6248400"/>
          </a:xfrm>
          <a:prstGeom prst="roundRect">
            <a:avLst>
              <a:gd name="adj" fmla="val 4402"/>
            </a:avLst>
          </a:prstGeom>
          <a:noFill/>
          <a:ln w="19050">
            <a:solidFill>
              <a:srgbClr val="45414B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073" y="323850"/>
            <a:ext cx="4635384" cy="6210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10CC30-27E3-2A5D-93ED-6DD5C6215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4138" y="6567626"/>
            <a:ext cx="1237555" cy="2455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08927"/>
            <a:ext cx="1173450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kern="100" spc="156" dirty="0">
                <a:solidFill>
                  <a:srgbClr val="FF4B0B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WORKOUT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666055"/>
            <a:ext cx="1127731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000" b="1" kern="100" spc="-60" dirty="0">
                <a:solidFill>
                  <a:srgbClr val="F5F5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Workout logging follows a clear session-to-summary 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189" y="1451233"/>
            <a:ext cx="5486263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FF4B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SESSION PATH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189" y="1811536"/>
            <a:ext cx="5486263" cy="3108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WorkoutFragment starts the workout flow.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ActiveWorkoutActivity captures exercises, sets, repetitions, and weights.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ExercisePickerDialog and ExerciseLogAdapter support selection and repeated exercise rows.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WorkoutCompletionService coordinates completion and follow-up updates.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WorkoutRepository persists workout data; summary and history screens display the result.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48244" y="1218505"/>
            <a:ext cx="5486263" cy="4164013"/>
          </a:xfrm>
          <a:prstGeom prst="rect">
            <a:avLst/>
          </a:prstGeom>
          <a:solidFill>
            <a:srgbClr val="1C1C21"/>
          </a:solidFill>
          <a:ln/>
        </p:spPr>
      </p:sp>
      <p:sp>
        <p:nvSpPr>
          <p:cNvPr id="7" name="Text 5"/>
          <p:cNvSpPr/>
          <p:nvPr/>
        </p:nvSpPr>
        <p:spPr>
          <a:xfrm>
            <a:off x="6476838" y="1451233"/>
            <a:ext cx="525766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JAVA FILES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76838" y="1821378"/>
            <a:ext cx="5029074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WorkoutFragment.java, ActiveWorkoutActivity.java, ExercisePickerDialog.java, ExerciseLogAdapter.java, WorkoutCompletionService.java, WorkoutRepository.java, WorkoutSummaryActivity.java, WorkoutHistoryActivity.java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6838" y="3655774"/>
            <a:ext cx="525766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XML LAYOUTS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76838" y="4025920"/>
            <a:ext cx="5029074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fragment_workout.xml, activity_active_workout.xml, dialog_exercise_picker.xml, activity_workout_summary.xml, activity_workout_history.xml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BE5A12-9BDA-FA35-8221-29F4787A7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922" y="6404283"/>
            <a:ext cx="2013772" cy="3995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304800"/>
            <a:ext cx="4673483" cy="6248400"/>
          </a:xfrm>
          <a:prstGeom prst="roundRect">
            <a:avLst>
              <a:gd name="adj" fmla="val 4402"/>
            </a:avLst>
          </a:prstGeom>
          <a:noFill/>
          <a:ln w="19050">
            <a:solidFill>
              <a:srgbClr val="45414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38" y="323850"/>
            <a:ext cx="4635384" cy="6210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40256" y="575528"/>
            <a:ext cx="645143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kern="100" spc="156" dirty="0">
                <a:solidFill>
                  <a:srgbClr val="FF4B0B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PROFILE &amp; PROGRESS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740256" y="943134"/>
            <a:ext cx="5841854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100" spc="-72" dirty="0">
                <a:solidFill>
                  <a:srgbClr val="F5F5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Profile and progress make improvement visible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740256" y="1991717"/>
            <a:ext cx="5841854" cy="3371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Profile information includes fitness details, goal, training experience, and gym context.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Progress screens aggregate workout and body-weight information.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PrService supports personal-record logic; AchievementService and ChallengeService support progress-related rules.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ProfileActivity, ProgressActivity, AchievementsActivity, and ChallengesActivity provide the related screens.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740256" y="5572014"/>
            <a:ext cx="584185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2D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Files :</a:t>
            </a:r>
            <a:r>
              <a:rPr lang="en-US" sz="145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ProfileActivity.java, EditProfileActivity.java, ProgressActivity.java, PrService.java, AchievementService.java, ChallengeService.java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5F1857-DE75-C599-09E1-59F2BFABA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922" y="6413614"/>
            <a:ext cx="2013772" cy="3995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56974"/>
            <a:ext cx="629904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kern="100" spc="156" dirty="0">
                <a:solidFill>
                  <a:srgbClr val="FF4B0B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LEADERBOARD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24580"/>
            <a:ext cx="5841854" cy="13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100" spc="-72" dirty="0">
                <a:solidFill>
                  <a:srgbClr val="F5F5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leaderboard presents rankings without hiding the data path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407444"/>
            <a:ext cx="5841854" cy="2731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Categories shown in the interface include Overall, Strength, Consistency, and Progress.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LeaderboardService builds leaderboard entries from available profile and fitness data.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LeaderboardFragment displays the results; LeaderboardEntry represents one row.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exact scoring formula should be explained only from the verified implementation.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5355590"/>
            <a:ext cx="5841854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D6D2D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Files :</a:t>
            </a: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LeaderboardFragment.java, LeaderboardService.java, LeaderboardEntry.java, fragment_leaderboard.xml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61023" y="304800"/>
            <a:ext cx="4673483" cy="6248400"/>
          </a:xfrm>
          <a:prstGeom prst="roundRect">
            <a:avLst>
              <a:gd name="adj" fmla="val 4402"/>
            </a:avLst>
          </a:prstGeom>
          <a:noFill/>
          <a:ln w="19050">
            <a:solidFill>
              <a:srgbClr val="45414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073" y="323850"/>
            <a:ext cx="4635384" cy="6210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4C17BE-F561-D4F3-1B65-C113DAD9D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431" y="6553200"/>
            <a:ext cx="1310262" cy="2599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304800"/>
            <a:ext cx="4673483" cy="6248400"/>
          </a:xfrm>
          <a:prstGeom prst="roundRect">
            <a:avLst>
              <a:gd name="adj" fmla="val 4402"/>
            </a:avLst>
          </a:prstGeom>
          <a:noFill/>
          <a:ln w="19050">
            <a:solidFill>
              <a:srgbClr val="45414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38" y="323850"/>
            <a:ext cx="4635384" cy="6210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40256" y="486430"/>
            <a:ext cx="645143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kern="100" spc="156" dirty="0">
                <a:solidFill>
                  <a:srgbClr val="FF4B0B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LOCATION SERVICES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740256" y="854035"/>
            <a:ext cx="5841854" cy="13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100" spc="-72" dirty="0">
                <a:solidFill>
                  <a:srgbClr val="F5F5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map combines device location with OpenStreetMap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740256" y="2336899"/>
            <a:ext cx="5841854" cy="3371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MapFragment uses osmdroid to display OpenStreetMap tiles.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Android location APIs provide coordinates after permission and location services allow it.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Geocoder attempts to turn coordinates into readable city/state text, with fallback handling needed when it fails.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local current-location marker does not automatically mean the exact location is shared with other users.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CE3BD1-A4BC-F0E2-060C-5E7483942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922" y="6413614"/>
            <a:ext cx="2013772" cy="3995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91986"/>
            <a:ext cx="629904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kern="100" spc="156" dirty="0">
                <a:solidFill>
                  <a:srgbClr val="FF4B0B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COMMUNITY &amp; ACCOUNTABILITY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59592"/>
            <a:ext cx="5841854" cy="13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100" spc="-72" dirty="0">
                <a:solidFill>
                  <a:srgbClr val="F5F5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social feed turns completed activity into a shared timeline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342455"/>
            <a:ext cx="5841854" cy="3051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SocialFragment loads activity posts through SocialRepository.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ActivityFeedAdapter converts ActivityPost data into visible feed rows.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Kudos and comments are represented as related social interactions where implemented.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Friend requests and user search are handled separately through FriendRepository and UserRepository.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5602772"/>
            <a:ext cx="5841854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2D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Files :</a:t>
            </a:r>
            <a:r>
              <a:rPr lang="en-US" sz="1450" dirty="0">
                <a:solidFill>
                  <a:srgbClr val="D6D2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SocialFragment.java · ActivityFeedAdapter.java · SocialRepository.java · FriendRepository.java · UserRepository.java · CommentsActivity.java · fragment_social.xml · item_activity_feed.xml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061023" y="304800"/>
            <a:ext cx="4673483" cy="6248400"/>
          </a:xfrm>
          <a:prstGeom prst="roundRect">
            <a:avLst>
              <a:gd name="adj" fmla="val 4402"/>
            </a:avLst>
          </a:prstGeom>
          <a:noFill/>
          <a:ln w="19050">
            <a:solidFill>
              <a:srgbClr val="45414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404" y="267864"/>
            <a:ext cx="4635384" cy="6210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C1ACBA-A1BF-BD61-4969-A8E7EF536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3510" y="6541707"/>
            <a:ext cx="1368184" cy="2714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2B013E-3C00-88D4-01F0-D2CB517CE2F3}"/>
              </a:ext>
            </a:extLst>
          </p:cNvPr>
          <p:cNvSpPr txBox="1"/>
          <p:nvPr/>
        </p:nvSpPr>
        <p:spPr>
          <a:xfrm>
            <a:off x="436207" y="236222"/>
            <a:ext cx="6097554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100" spc="-72" dirty="0">
                <a:solidFill>
                  <a:srgbClr val="F5F5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Components</a:t>
            </a:r>
            <a:endParaRPr lang="en-US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077138-2C3A-F1C8-DA59-85155E960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837914"/>
              </p:ext>
            </p:extLst>
          </p:nvPr>
        </p:nvGraphicFramePr>
        <p:xfrm>
          <a:off x="1706492" y="1825625"/>
          <a:ext cx="8779016" cy="3816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508">
                  <a:extLst>
                    <a:ext uri="{9D8B030D-6E8A-4147-A177-3AD203B41FA5}">
                      <a16:colId xmlns:a16="http://schemas.microsoft.com/office/drawing/2014/main" val="2319255665"/>
                    </a:ext>
                  </a:extLst>
                </a:gridCol>
                <a:gridCol w="4389508">
                  <a:extLst>
                    <a:ext uri="{9D8B030D-6E8A-4147-A177-3AD203B41FA5}">
                      <a16:colId xmlns:a16="http://schemas.microsoft.com/office/drawing/2014/main" val="2194526166"/>
                    </a:ext>
                  </a:extLst>
                </a:gridCol>
              </a:tblGrid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Activity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Manages individual screens, such as Login and Active Workout.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832388270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Fragment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Displays sections of the main interface, such as Home, Workout, Social, Map, and Leaderboard.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315833150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XML Layouts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Define the user interface, including buttons, text fields, cards, and screen layouts.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712269500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RecyclerView &amp; Adapter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Display lists of data, such as activity feed posts and exercise records.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915014964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Intent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Enables navigation between Activities and can pass data between them.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747482918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Firebase Authentication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Handles user registration and login.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484466051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Cloud Firestore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Stores and retrieves cloud data, including profiles, workouts, and social activities.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925577304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osmdroid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Displays OpenStreetMap inside the application.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37088725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A905F18-E178-E7E0-A09D-4B48B9DFA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303" y="6307494"/>
            <a:ext cx="3703698" cy="48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59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C0C768-813D-BC15-C2B0-74B07E61D7B4}"/>
              </a:ext>
            </a:extLst>
          </p:cNvPr>
          <p:cNvGraphicFramePr>
            <a:graphicFrameLocks noGrp="1"/>
          </p:cNvGraphicFramePr>
          <p:nvPr/>
        </p:nvGraphicFramePr>
        <p:xfrm>
          <a:off x="1462631" y="1809884"/>
          <a:ext cx="9266738" cy="4382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33369">
                  <a:extLst>
                    <a:ext uri="{9D8B030D-6E8A-4147-A177-3AD203B41FA5}">
                      <a16:colId xmlns:a16="http://schemas.microsoft.com/office/drawing/2014/main" val="2517192804"/>
                    </a:ext>
                  </a:extLst>
                </a:gridCol>
                <a:gridCol w="4633369">
                  <a:extLst>
                    <a:ext uri="{9D8B030D-6E8A-4147-A177-3AD203B41FA5}">
                      <a16:colId xmlns:a16="http://schemas.microsoft.com/office/drawing/2014/main" val="627606765"/>
                    </a:ext>
                  </a:extLst>
                </a:gridCol>
              </a:tblGrid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TextView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Displays text such as usernames, workout duration, and statistics.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768069545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EditText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Allows users to enter information, such as login credentials and profile details.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488607899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Button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Performs actions when tapped, such as starting a workout or submitting a form.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082683969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ImageView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Displays images and icons in the interface.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609916558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LinearLayout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Arranges UI elements vertically or horizontally.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912969935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ConstraintLayout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Positions UI elements using constraints to create flexible layouts.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4160221252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Material Components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Provides styled UI elements consistent with Material Design.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103233242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CardView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Displays content inside card-shaped containers.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790444690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Dialog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Displays a small interactive window, such as the exercise picker.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42917065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A47A4F2-867E-5832-CACD-E2FB8B9A860E}"/>
              </a:ext>
            </a:extLst>
          </p:cNvPr>
          <p:cNvSpPr txBox="1"/>
          <p:nvPr/>
        </p:nvSpPr>
        <p:spPr>
          <a:xfrm>
            <a:off x="548174" y="314936"/>
            <a:ext cx="6097554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100" spc="-72" dirty="0">
                <a:solidFill>
                  <a:srgbClr val="F5F5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Components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15028B-BF65-8984-A022-1D3038D42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007" y="6279502"/>
            <a:ext cx="4204993" cy="54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35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A8934F-AC57-569B-F8F3-8FE2830D60F4}"/>
              </a:ext>
            </a:extLst>
          </p:cNvPr>
          <p:cNvSpPr txBox="1"/>
          <p:nvPr/>
        </p:nvSpPr>
        <p:spPr>
          <a:xfrm>
            <a:off x="342900" y="198900"/>
            <a:ext cx="6097554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100" spc="-72" dirty="0" err="1">
                <a:solidFill>
                  <a:srgbClr val="F5F5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Github</a:t>
            </a:r>
            <a:r>
              <a:rPr lang="en-US" sz="3600" b="1" kern="100" spc="-72" dirty="0">
                <a:solidFill>
                  <a:srgbClr val="F5F5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8C98E-35E5-A1B9-708B-E49089346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68666"/>
            <a:ext cx="12124259" cy="578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4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1010</Words>
  <Application>Microsoft Office PowerPoint</Application>
  <PresentationFormat>Widescreen</PresentationFormat>
  <Paragraphs>120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Times New Roman</vt:lpstr>
      <vt:lpstr>Manrope Bold</vt:lpstr>
      <vt:lpstr>Arial</vt:lpstr>
      <vt:lpstr>Space Grotesk Bold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Armaan Thakur</cp:lastModifiedBy>
  <cp:revision>8</cp:revision>
  <dcterms:created xsi:type="dcterms:W3CDTF">2026-10-15T08:56:53Z</dcterms:created>
  <dcterms:modified xsi:type="dcterms:W3CDTF">2026-10-15T10:34:52Z</dcterms:modified>
</cp:coreProperties>
</file>